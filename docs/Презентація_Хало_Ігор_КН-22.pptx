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67" r:id="rId20"/>
    <p:sldId id="268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91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671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44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78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804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176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833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225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94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521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1"/>
            <a:ext cx="8229600" cy="270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Черкаський національний університет імені Богдана Хмельницького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89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Факультет обчислювальної техніки, інтелектуальних та управляючих систем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ІНФОРМАЦІЙНА СИСТЕМА</a:t>
            </a:r>
            <a:endParaRPr lang="en-US" sz="3200" b="1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БУДІВЕЛЬНОЇ КОМПАНІЇ</a:t>
            </a:r>
            <a:endParaRPr lang="en-US" sz="3200" b="1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ПОКУПЦІВ</a:t>
            </a:r>
            <a:endParaRPr lang="en-US" sz="3200" b="1" dirty="0"/>
          </a:p>
        </p:txBody>
      </p:sp>
      <p:sp>
        <p:nvSpPr>
          <p:cNvPr id="6" name="Shape 4"/>
          <p:cNvSpPr/>
          <p:nvPr/>
        </p:nvSpPr>
        <p:spPr>
          <a:xfrm>
            <a:off x="2286000" y="2971800"/>
            <a:ext cx="4572000" cy="36576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робота освітнього ступеня бакалавр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Здобувач: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Хало Ігор Сергійович, КН-22</a:t>
            </a:r>
            <a:endParaRPr lang="en-US" sz="1400" dirty="0"/>
          </a:p>
          <a:p>
            <a:pPr marL="0" indent="0" algn="ctr">
              <a:buNone/>
            </a:pPr>
            <a:endParaRPr lang="uk-UA" sz="1400" b="1" dirty="0">
              <a:solidFill>
                <a:srgbClr val="B0BEC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uk-UA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Керівник: </a:t>
            </a:r>
            <a:r>
              <a:rPr lang="uk-UA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</a:t>
            </a:r>
            <a:r>
              <a:rPr lang="uk-UA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uk-UA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</a:t>
            </a:r>
            <a:r>
              <a:rPr lang="uk-UA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наук, ст. викладач Царик Т.Ю.</a:t>
            </a:r>
            <a:endParaRPr lang="uk-UA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Черкаси –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теми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046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7132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2471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Більшість будівельних компаній не мають власних веб-систем для роботи з покупцями або використовують застарілі рішення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046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73152" cy="7132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9339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Відсутні інструменти для онлайн-взаємодії: перегляд каталогу, фільтрація, подання заявок, відстеження їх статусу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8046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788920"/>
            <a:ext cx="73152" cy="7132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6207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 обробка заявок збільшує навантаження на менеджерів та призводить до втрати потенційних клієнтів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04672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76472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r>
              <a:rPr lang="uk-UA" sz="14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роботи</a:t>
            </a:r>
            <a:r>
              <a:rPr lang="uk-UA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розробка повнофункціональної інформаційної системи (ІС) будівельної компанії для покупців з каталогом, фільтрацією, особистим кабінетом та модулем заявок</a:t>
            </a:r>
            <a:endParaRPr lang="uk-UA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та завдання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grpSp>
        <p:nvGrpSpPr>
          <p:cNvPr id="18" name="Группа 17"/>
          <p:cNvGrpSpPr/>
          <p:nvPr/>
        </p:nvGrpSpPr>
        <p:grpSpPr>
          <a:xfrm>
            <a:off x="457200" y="1005839"/>
            <a:ext cx="3749040" cy="1312165"/>
            <a:chOff x="457200" y="1005839"/>
            <a:chExt cx="3749040" cy="1312165"/>
          </a:xfrm>
        </p:grpSpPr>
        <p:sp>
          <p:nvSpPr>
            <p:cNvPr id="4" name="Shape 2"/>
            <p:cNvSpPr/>
            <p:nvPr/>
          </p:nvSpPr>
          <p:spPr>
            <a:xfrm>
              <a:off x="457200" y="1005839"/>
              <a:ext cx="3749040" cy="1312165"/>
            </a:xfrm>
            <a:prstGeom prst="rect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548640" y="1033272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C89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Об'єкт розробки</a:t>
              </a:r>
              <a:endParaRPr lang="en-US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48640" y="1421893"/>
              <a:ext cx="3566160" cy="78857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Процес інформаційного обслуговування покупців будівельної компанії</a:t>
              </a:r>
              <a:endParaRPr lang="en-US" sz="1600" dirty="0"/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457200" y="2455163"/>
            <a:ext cx="3749040" cy="1562036"/>
            <a:chOff x="457200" y="2148840"/>
            <a:chExt cx="3749040" cy="1353312"/>
          </a:xfrm>
        </p:grpSpPr>
        <p:sp>
          <p:nvSpPr>
            <p:cNvPr id="7" name="Shape 5"/>
            <p:cNvSpPr/>
            <p:nvPr/>
          </p:nvSpPr>
          <p:spPr>
            <a:xfrm>
              <a:off x="457200" y="2148840"/>
              <a:ext cx="3749040" cy="1353312"/>
            </a:xfrm>
            <a:prstGeom prst="rect">
              <a:avLst/>
            </a:prstGeom>
            <a:solidFill>
              <a:srgbClr val="0D6E6E"/>
            </a:solidFill>
            <a:ln w="12700">
              <a:solidFill>
                <a:srgbClr val="0D6E6E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548640" y="2188000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C89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Предмет розробки</a:t>
              </a:r>
              <a:endParaRPr 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48640" y="2547200"/>
              <a:ext cx="3566160" cy="78417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uk-UA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Методи та засоби проектування і реалізації веб інформаційної системи для автоматизації взаємодії з покупцями</a:t>
              </a:r>
              <a:endParaRPr lang="uk-UA" sz="1600" dirty="0"/>
            </a:p>
          </p:txBody>
        </p:sp>
      </p:grpSp>
      <p:grpSp>
        <p:nvGrpSpPr>
          <p:cNvPr id="17" name="Группа 16"/>
          <p:cNvGrpSpPr/>
          <p:nvPr/>
        </p:nvGrpSpPr>
        <p:grpSpPr>
          <a:xfrm>
            <a:off x="4365266" y="1005840"/>
            <a:ext cx="4321534" cy="3011360"/>
            <a:chOff x="4365266" y="1005840"/>
            <a:chExt cx="4321534" cy="3011360"/>
          </a:xfrm>
        </p:grpSpPr>
        <p:sp>
          <p:nvSpPr>
            <p:cNvPr id="10" name="Shape 8"/>
            <p:cNvSpPr/>
            <p:nvPr/>
          </p:nvSpPr>
          <p:spPr>
            <a:xfrm>
              <a:off x="4365266" y="1005840"/>
              <a:ext cx="4321534" cy="3011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492487" y="1051560"/>
              <a:ext cx="4126727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A2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Завдання роботи</a:t>
              </a:r>
              <a:endParaRPr lang="en-US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428878" y="1527049"/>
              <a:ext cx="4190336" cy="229303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spcAft>
                  <a:spcPts val="800"/>
                </a:spcAft>
                <a:buNone/>
              </a:pPr>
              <a:r>
                <a:rPr lang="en-US" sz="1600" dirty="0">
                  <a:solidFill>
                    <a:srgbClr val="1A2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 Порівняльний аналіз систем-аналогів</a:t>
              </a:r>
              <a:endParaRPr lang="en-US" sz="1600" dirty="0"/>
            </a:p>
            <a:p>
              <a:pPr marL="0" indent="0">
                <a:spcAft>
                  <a:spcPts val="800"/>
                </a:spcAft>
                <a:buNone/>
              </a:pPr>
              <a:r>
                <a:rPr lang="en-US" sz="1600" dirty="0">
                  <a:solidFill>
                    <a:srgbClr val="1A2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 Визначення функціональних вимог</a:t>
              </a:r>
              <a:endParaRPr lang="en-US" sz="1600" dirty="0"/>
            </a:p>
            <a:p>
              <a:pPr marL="0" indent="0">
                <a:spcAft>
                  <a:spcPts val="800"/>
                </a:spcAft>
                <a:buNone/>
              </a:pPr>
              <a:r>
                <a:rPr lang="en-US" sz="1600" dirty="0">
                  <a:solidFill>
                    <a:srgbClr val="1A2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 Проектування структури БД та UML-діаграм</a:t>
              </a:r>
              <a:endParaRPr lang="en-US" sz="1600" dirty="0"/>
            </a:p>
            <a:p>
              <a:pPr marL="0" indent="0">
                <a:spcAft>
                  <a:spcPts val="800"/>
                </a:spcAft>
                <a:buNone/>
              </a:pPr>
              <a:r>
                <a:rPr lang="en-US" sz="1600" dirty="0">
                  <a:solidFill>
                    <a:srgbClr val="1A2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  Реалізація на C# + ASP.NET Core Razor Pages</a:t>
              </a:r>
              <a:endParaRPr lang="en-US" sz="1600" dirty="0"/>
            </a:p>
            <a:p>
              <a:pPr marL="0" indent="0">
                <a:spcAft>
                  <a:spcPts val="800"/>
                </a:spcAft>
                <a:buNone/>
              </a:pPr>
              <a:r>
                <a:rPr lang="en-US" sz="1600" dirty="0">
                  <a:solidFill>
                    <a:srgbClr val="1A2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5.  Тестування системи (12 тест-кейсів)</a:t>
              </a:r>
              <a:endParaRPr lang="en-US" sz="1600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EEF6EC"/>
          </a:solidFill>
          <a:ln w="12700">
            <a:solidFill>
              <a:srgbClr val="A8D5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160520"/>
            <a:ext cx="54864" cy="6400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06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u="sng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значення</a:t>
            </a:r>
            <a:r>
              <a:rPr lang="en-US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розроблена система може бути впроваджена у реальній будівельній компанії для автоматизації роботи з клієнтами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існуючих систем-аналогів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87552"/>
            <a:ext cx="192024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100584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987552"/>
            <a:ext cx="118872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31136" y="10058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DOM.RIA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987552"/>
            <a:ext cx="118872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9856" y="10058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ЛУН Місто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87552"/>
            <a:ext cx="137160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0058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Intergal-Bud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987552"/>
            <a:ext cx="137160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0176" y="10058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Kyivmiskbud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987552"/>
            <a:ext cx="91440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51776" y="1005840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Розр. ІС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37160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1389888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Власний каталог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94560" y="13716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31136" y="1389888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Частково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13716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1389888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Частково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13716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08576" y="1389888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13716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0176" y="1389888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0" y="1371600"/>
            <a:ext cx="91440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51776" y="1389888"/>
            <a:ext cx="841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1847088"/>
            <a:ext cx="192024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" y="1865376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Реєстрація / Кабінет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94560" y="1847088"/>
            <a:ext cx="118872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31136" y="1865376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Обмежено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83280" y="1847088"/>
            <a:ext cx="118872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9856" y="1865376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0" y="1847088"/>
            <a:ext cx="137160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08576" y="1865376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0" y="1847088"/>
            <a:ext cx="137160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0176" y="1865376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1847088"/>
            <a:ext cx="91440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51776" y="1865376"/>
            <a:ext cx="841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232257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" y="2340864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Онлайн-заявки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194560" y="2322576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31136" y="2340864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383280" y="2322576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19856" y="2340864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Частково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0" y="2322576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08576" y="2340864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943600" y="2322576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80176" y="2340864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315200" y="2322576"/>
            <a:ext cx="91440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51776" y="2340864"/>
            <a:ext cx="841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74320" y="2798064"/>
            <a:ext cx="192024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0896" y="2816352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Відстеження статусу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194560" y="2798064"/>
            <a:ext cx="118872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31136" y="2816352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383280" y="2798064"/>
            <a:ext cx="118872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19856" y="2816352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572000" y="2798064"/>
            <a:ext cx="137160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08576" y="2816352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943600" y="2798064"/>
            <a:ext cx="137160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80176" y="2816352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315200" y="2798064"/>
            <a:ext cx="91440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51776" y="2816352"/>
            <a:ext cx="841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74320" y="3273552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0896" y="3291840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Сповіщення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194560" y="3273552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31136" y="3291840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383280" y="3273552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19856" y="3291840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572000" y="3273552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08576" y="3291840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943600" y="3273552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80176" y="3291840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7315200" y="3273552"/>
            <a:ext cx="91440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51776" y="3291840"/>
            <a:ext cx="841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274320" y="3749040"/>
            <a:ext cx="192024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10896" y="3767328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Адмін-панель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194560" y="3749040"/>
            <a:ext cx="118872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31136" y="3767328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3383280" y="3749040"/>
            <a:ext cx="118872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19856" y="3767328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4572000" y="3749040"/>
            <a:ext cx="137160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08576" y="3767328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Зовн. CMS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5943600" y="3749040"/>
            <a:ext cx="137160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980176" y="3767328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Зовн. CMS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7315200" y="3749040"/>
            <a:ext cx="91440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51776" y="3767328"/>
            <a:ext cx="841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274320" y="4224528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0896" y="4242816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(≥5 пар.)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2194560" y="422452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231136" y="4242816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3383280" y="422452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419856" y="4242816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4572000" y="4224528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608576" y="4242816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Частково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5943600" y="4224528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80176" y="4242816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Частково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7315200" y="4224528"/>
            <a:ext cx="91440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351776" y="4242816"/>
            <a:ext cx="841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Висновок: розроблювана ІС єдина забезпечує повний цикл взаємодії з покупцем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Технологічний стек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347472"/>
          </a:xfrm>
          <a:prstGeom prst="rect">
            <a:avLst/>
          </a:prstGeom>
          <a:solidFill>
            <a:srgbClr val="3C1170"/>
          </a:solidFill>
          <a:ln w="12700">
            <a:solidFill>
              <a:srgbClr val="3C11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4241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 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Типобезпечна</a:t>
            </a:r>
            <a:r>
              <a:rPr lang="uk-UA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OO-мова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 продуктивність JIT</a:t>
            </a:r>
            <a:endParaRPr lang="uk-UA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51760" cy="347472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104241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r>
              <a:rPr lang="uk-UA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Pages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3898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Сторінковий підхід (PageModel + .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cshtml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uk-UA" sz="1200" dirty="0">
              <a:solidFill>
                <a:srgbClr val="1A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Вбудована </a:t>
            </a:r>
            <a:r>
              <a:rPr lang="uk-UA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валідація</a:t>
            </a:r>
            <a:endParaRPr lang="uk-UA" sz="1200" dirty="0">
              <a:solidFill>
                <a:srgbClr val="1A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Топ-10 фреймворків за 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TechEmpower</a:t>
            </a:r>
            <a:r>
              <a:rPr lang="ru-RU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05840"/>
            <a:ext cx="2651760" cy="34747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04241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</a:t>
            </a:r>
            <a:r>
              <a:rPr lang="uk-UA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(Code-First)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3898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з підходом Code-First + </a:t>
            </a:r>
            <a:r>
              <a:rPr lang="uk-UA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міграції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Незалежність від конкретної СКБД</a:t>
            </a:r>
            <a:endParaRPr lang="uk-UA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06040"/>
            <a:ext cx="2651760" cy="347472"/>
          </a:xfrm>
          <a:prstGeom prst="rect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64261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r>
              <a:rPr lang="uk-UA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9900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Легковагова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СКБД</a:t>
            </a:r>
            <a:endParaRPr lang="uk-UA" sz="1200" dirty="0">
              <a:solidFill>
                <a:srgbClr val="1A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Легкий перехід 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SQL Server/PostgreSQL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606040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606040"/>
            <a:ext cx="2651760" cy="347472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264261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29900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Адаптивний інтерфейс від 375px 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1920px</a:t>
            </a:r>
            <a:endParaRPr lang="uk-UA" sz="1200" dirty="0">
              <a:solidFill>
                <a:srgbClr val="1A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сітки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компоненти</a:t>
            </a:r>
            <a:endParaRPr lang="uk-UA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606040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606040"/>
            <a:ext cx="2651760" cy="34747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264261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r>
              <a:rPr lang="uk-UA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BCrypt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29900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автентифікація</a:t>
            </a:r>
            <a:endParaRPr lang="uk-UA" sz="1200" dirty="0">
              <a:solidFill>
                <a:srgbClr val="1A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олі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(Customer/Admin)</a:t>
            </a:r>
            <a:endParaRPr lang="uk-UA" sz="1200" dirty="0">
              <a:solidFill>
                <a:srgbClr val="1A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BCrypt-хешування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паролів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Функціональні вимоги та актори системи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265176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05840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Гість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26464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600200"/>
            <a:ext cx="5486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48132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 каталогу об'єктів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9094" y="2514600"/>
            <a:ext cx="5486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2286000"/>
            <a:ext cx="2386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за 7 параметрами</a:t>
            </a:r>
            <a:endParaRPr lang="uk-UA" sz="1400" dirty="0"/>
          </a:p>
        </p:txBody>
      </p:sp>
      <p:sp>
        <p:nvSpPr>
          <p:cNvPr id="11" name="Shape 9"/>
          <p:cNvSpPr/>
          <p:nvPr/>
        </p:nvSpPr>
        <p:spPr>
          <a:xfrm>
            <a:off x="445149" y="3229013"/>
            <a:ext cx="5486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309067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 детальної картки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0349" y="4019378"/>
            <a:ext cx="5486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3895344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Реєстрація та авторизація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987552"/>
            <a:ext cx="2651760" cy="43891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005840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Покупець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1426464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86572" y="1700784"/>
            <a:ext cx="54864" cy="5486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148132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Подання заявок (придбання / консультація)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19272" y="2505456"/>
            <a:ext cx="54864" cy="5486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22860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Особистий кабінет зі статусами заявок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05768" y="3229013"/>
            <a:ext cx="54864" cy="5486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309067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Отримання сповіщень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19272" y="4030460"/>
            <a:ext cx="54864" cy="5486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9856" y="3895344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Редагування профілю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987552"/>
            <a:ext cx="2651760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1005840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Адміністратор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1426464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1748019"/>
            <a:ext cx="54864" cy="548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148132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Управління каталогом (додавання, ховання, копіювання)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26480" y="2552691"/>
            <a:ext cx="54864" cy="548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22860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Незалежне управління статусами будівництва та продажу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26480" y="3357363"/>
            <a:ext cx="54864" cy="548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309067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 заявок зі зміною статусів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26480" y="4162035"/>
            <a:ext cx="54864" cy="548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3895344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Управління користувачами (блок./скид. пароля)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Проектування бази даних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83464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42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53312"/>
            <a:ext cx="28346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8988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2834640" cy="274320"/>
          </a:xfrm>
          <a:prstGeom prst="rect">
            <a:avLst/>
          </a:prstGeom>
          <a:solidFill>
            <a:srgbClr val="EBF0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6420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901952"/>
            <a:ext cx="28346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93852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76272"/>
            <a:ext cx="2834640" cy="274320"/>
          </a:xfrm>
          <a:prstGeom prst="rect">
            <a:avLst/>
          </a:prstGeom>
          <a:solidFill>
            <a:srgbClr val="EBF0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21284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50592"/>
            <a:ext cx="28346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8716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IsBlocked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005840"/>
            <a:ext cx="25603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042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1353312"/>
            <a:ext cx="2560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353312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138988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1627632"/>
            <a:ext cx="2560320" cy="274320"/>
          </a:xfrm>
          <a:prstGeom prst="rect">
            <a:avLst/>
          </a:prstGeom>
          <a:solidFill>
            <a:srgbClr val="EBF0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166420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(UNIQUE)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1901952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193852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1005840"/>
            <a:ext cx="283464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042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RealEstateObjects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1353312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1353312"/>
            <a:ext cx="28346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138988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1627632"/>
            <a:ext cx="2834640" cy="274320"/>
          </a:xfrm>
          <a:prstGeom prst="rect">
            <a:avLst/>
          </a:prstGeom>
          <a:solidFill>
            <a:srgbClr val="EBF0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166420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CategoryId (FK)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1901952"/>
            <a:ext cx="28346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08192" y="193852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BuildingStatus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2176272"/>
            <a:ext cx="2834640" cy="274320"/>
          </a:xfrm>
          <a:prstGeom prst="rect">
            <a:avLst/>
          </a:prstGeom>
          <a:solidFill>
            <a:srgbClr val="EBF0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221284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SaleStatus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35040" y="2450592"/>
            <a:ext cx="28346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08192" y="248716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IsHidden / IsFeatured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017520"/>
            <a:ext cx="283464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0540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3364992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364992"/>
            <a:ext cx="28346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340156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639312"/>
            <a:ext cx="2834640" cy="274320"/>
          </a:xfrm>
          <a:prstGeom prst="rect">
            <a:avLst/>
          </a:prstGeom>
          <a:solidFill>
            <a:srgbClr val="EBF0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67588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ObjectId (FK, CASCADE)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3913632"/>
            <a:ext cx="28346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395020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FilePath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4187952"/>
            <a:ext cx="2834640" cy="274320"/>
          </a:xfrm>
          <a:prstGeom prst="rect">
            <a:avLst/>
          </a:prstGeom>
          <a:solidFill>
            <a:srgbClr val="EBF0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22452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91840" y="3017520"/>
            <a:ext cx="25603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63240" y="30540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91840" y="3364992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91840" y="3364992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37560" y="3401568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91840" y="3639312"/>
            <a:ext cx="2560320" cy="274320"/>
          </a:xfrm>
          <a:prstGeom prst="rect">
            <a:avLst/>
          </a:prstGeom>
          <a:solidFill>
            <a:srgbClr val="EBF0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37560" y="3694176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(FK)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291841" y="3913632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37560" y="3950208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ObjectId (FK)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291840" y="4187952"/>
            <a:ext cx="2560320" cy="274320"/>
          </a:xfrm>
          <a:prstGeom prst="rect">
            <a:avLst/>
          </a:prstGeom>
          <a:solidFill>
            <a:srgbClr val="EBF0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37560" y="4224528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BookingStatus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91840" y="4462272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37560" y="4498848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BookingType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035040" y="3017520"/>
            <a:ext cx="283464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80760" y="30540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035040" y="3364992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35040" y="3364992"/>
            <a:ext cx="28346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08192" y="340156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035040" y="3639312"/>
            <a:ext cx="2834640" cy="274320"/>
          </a:xfrm>
          <a:prstGeom prst="rect">
            <a:avLst/>
          </a:prstGeom>
          <a:solidFill>
            <a:srgbClr val="EBF0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08192" y="367588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(FK, CASCADE)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035040" y="3913632"/>
            <a:ext cx="28346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08192" y="395020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035040" y="4187952"/>
            <a:ext cx="2834640" cy="274320"/>
          </a:xfrm>
          <a:prstGeom prst="rect">
            <a:avLst/>
          </a:prstGeom>
          <a:solidFill>
            <a:srgbClr val="EBF0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08192" y="422452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IsRead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таблиць · Code-First + EF Core міграції · зовнішні ключі з каскадним видаленням Photos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системи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3C117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097280"/>
          </a:xfrm>
          <a:prstGeom prst="rect">
            <a:avLst/>
          </a:prstGeom>
          <a:solidFill>
            <a:srgbClr val="3C1170"/>
          </a:solidFill>
          <a:ln w="12700">
            <a:solidFill>
              <a:srgbClr val="3C11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789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1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 представлення (Presentation Layer)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444752"/>
            <a:ext cx="7315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Pages (.cshtml + PageModel)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· HTML/CSS/JS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2121408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6E6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73152" cy="109728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134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 бізнес-логіки (Business Logic Layer)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679192"/>
            <a:ext cx="7315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RealEstateService · BookingService · UserService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Container · BCrypt · Cookie Auth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3355848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B4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74720"/>
            <a:ext cx="73152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478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 доступу до даних (Data Access Layer)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913632"/>
            <a:ext cx="7315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ApplicationDbContext (EF Core)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LINQ-запити → SQL Server LocalDB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680585"/>
            <a:ext cx="8229600" cy="411480"/>
          </a:xfrm>
          <a:prstGeom prst="rect">
            <a:avLst/>
          </a:prstGeom>
          <a:solidFill>
            <a:srgbClr val="FFF8E1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708017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Залежності однонаправлені: </a:t>
            </a: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→ BusinessLogic → DataAccess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забезпечує слабку зв'язаність компонентів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системи Basis Development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606040" cy="17190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606040" cy="320040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96696"/>
            <a:ext cx="2459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сторінка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344168"/>
            <a:ext cx="24231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обраних об'єктів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Секція «Наші проекти»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Навігація та інформація про компанію</a:t>
            </a:r>
            <a:endParaRPr lang="uk-UA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606040" cy="17190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960120"/>
            <a:ext cx="2606040" cy="320040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996696"/>
            <a:ext cx="2459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+ Фільтрація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1344168"/>
            <a:ext cx="24231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параметрів фільтрації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Пагінація по 9 об'єктів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Сортування</a:t>
            </a:r>
            <a:endParaRPr lang="uk-UA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960120"/>
            <a:ext cx="2606040" cy="17190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960120"/>
            <a:ext cx="2606040" cy="320040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996696"/>
            <a:ext cx="2459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Картка об'єкту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1344168"/>
            <a:ext cx="24231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Фотогалерея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Статуси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заявки</a:t>
            </a:r>
            <a:endParaRPr lang="uk-UA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2606040" cy="17190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80360"/>
            <a:ext cx="2606040" cy="320040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2916936"/>
            <a:ext cx="2459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Особистий кабінет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3264408"/>
            <a:ext cx="24231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заявок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Статуси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Сповіщення про зміни</a:t>
            </a:r>
            <a:endParaRPr lang="uk-UA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2880360"/>
            <a:ext cx="2606040" cy="17190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2880360"/>
            <a:ext cx="2606040" cy="320040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32" y="2916936"/>
            <a:ext cx="2459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заявки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46120" y="3264408"/>
            <a:ext cx="24231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(придбання / консультація)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Бажана дата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</a:t>
            </a:r>
            <a:endParaRPr lang="uk-UA" sz="1200" dirty="0"/>
          </a:p>
        </p:txBody>
      </p:sp>
      <p:sp>
        <p:nvSpPr>
          <p:cNvPr id="25" name="Shape 23"/>
          <p:cNvSpPr/>
          <p:nvPr/>
        </p:nvSpPr>
        <p:spPr>
          <a:xfrm>
            <a:off x="5989320" y="2880360"/>
            <a:ext cx="2606040" cy="17190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2880360"/>
            <a:ext cx="2606040" cy="320040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2916936"/>
            <a:ext cx="2459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Адмін-панель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80760" y="3264408"/>
            <a:ext cx="24231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Управління об'єктами заявками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Управління користувачами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uk-UA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Завантаження фото</a:t>
            </a:r>
            <a:endParaRPr lang="uk-UA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Авторизація та безпека системи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 авторизації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84048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6384" y="1463040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27048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пароль → Login.cshtml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384048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7568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" y="2029968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093976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користувача за Email у БД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384048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4261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6384" y="2596896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660904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BCrypt.Verify(пароль, хеш)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163824"/>
            <a:ext cx="384048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0954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6384" y="3163824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227832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IsBlocked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730752"/>
            <a:ext cx="384048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77647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6384" y="3730752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794760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Видача Cookie з ClaimsPrincipal (Id, Role)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384048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3434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86384" y="4297680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4361688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[Authorize(Roles="Admin")] на адмін-сторінках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02412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Захист від вразливостей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146304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5179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36208" y="15179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Автоматичні CSRF-токени ASP.NET Core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2029968"/>
            <a:ext cx="402336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0848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36208" y="2084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Параметризовані запити EF Core / LINQ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2596896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2651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Злом пароля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36208" y="2651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з автогенерованою «сіллю»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163824"/>
            <a:ext cx="402336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321868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Несанкц. доступ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36208" y="32186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Атрибут [Authorize], перевірка ролі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3730752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7856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 чужих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заявок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36208" y="37856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за поточним UserId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4297680"/>
            <a:ext cx="402336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43525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Блокування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36208" y="43525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IsBlocked = true без видалення запису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системи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56032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тест-кейсів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56032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005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0" y="1508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пройдено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56032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05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1508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 тестування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084832"/>
            <a:ext cx="640080" cy="34747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10312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084832"/>
            <a:ext cx="2560320" cy="34747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10312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2084832"/>
            <a:ext cx="4114800" cy="34747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210312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Тест-кейс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0" y="2084832"/>
            <a:ext cx="1371600" cy="34747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21031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432304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50592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2432304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245059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Реєстрація / Авторизація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450592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Дублікат email, невірний пароль, блокування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0" y="2432304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245059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✓ ✓ 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2907792"/>
            <a:ext cx="64008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926080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4400" y="2907792"/>
            <a:ext cx="256032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292608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/ Фільтрація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74720" y="2907792"/>
            <a:ext cx="411480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292608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об'єкти, фільтр за категорією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589520" y="2907792"/>
            <a:ext cx="137160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35240" y="29260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3383280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40156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7-9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4400" y="338328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340156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/ Кабінет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74720" y="338328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0440" y="340156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Подання, неавторизований доступ, перегляд кабінету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89520" y="338328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340156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✓ 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74320" y="3858768"/>
            <a:ext cx="64008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877056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10-12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14400" y="3858768"/>
            <a:ext cx="256032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0120" y="387705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Адмін-функції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474720" y="3858768"/>
            <a:ext cx="411480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20440" y="3877056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Додавання об'єкту, невірний формат фото, зміна статусу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589520" y="3858768"/>
            <a:ext cx="1371600" cy="457200"/>
          </a:xfrm>
          <a:prstGeom prst="rect">
            <a:avLst/>
          </a:prstGeom>
          <a:solidFill>
            <a:srgbClr val="EBF0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35240" y="387705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✓ ✓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74320" y="4407408"/>
            <a:ext cx="8595360" cy="411480"/>
          </a:xfrm>
          <a:prstGeom prst="rect">
            <a:avLst/>
          </a:prstGeom>
          <a:solidFill>
            <a:srgbClr val="EEF6EC"/>
          </a:solidFill>
          <a:ln w="12700">
            <a:solidFill>
              <a:srgbClr val="A8D5A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4622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Адаптивність: тест на 375px / 768px / 1920px — ✓   |   Безпека: CSRF, SQL Injection, несанкц. доступ — ✓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Development</a:t>
            </a:r>
            <a:r>
              <a:rPr lang="uk-UA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</a:t>
            </a:r>
            <a:r>
              <a:rPr lang="ru-RU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тартова</a:t>
            </a:r>
            <a:r>
              <a:rPr lang="ru-RU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</a:t>
            </a:r>
            <a:r>
              <a:rPr lang="uk-UA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</a:t>
            </a:r>
            <a:r>
              <a:rPr lang="ru-RU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нка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29F2C8A-B034-4148-98D9-E389A798D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08" y="898938"/>
            <a:ext cx="7548984" cy="406168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38" y="898938"/>
            <a:ext cx="7538154" cy="413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921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Development</a:t>
            </a:r>
            <a:r>
              <a:rPr lang="uk-UA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обрані об’єкти на головній</a:t>
            </a:r>
            <a:endParaRPr lang="uk-UA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B6E19-FEC2-4494-B16C-0E71441A8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485" y="996989"/>
            <a:ext cx="6433030" cy="3884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BDFA0C-2E10-4B2A-9E5A-BF0F93543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485" y="996988"/>
            <a:ext cx="6433030" cy="388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1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80DE390-F152-4E3A-966D-AFE1C824D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20" y="994276"/>
            <a:ext cx="8047359" cy="39663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D13637-FBBA-4995-8F7B-ECCC4755A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20" y="994276"/>
            <a:ext cx="8047359" cy="3966344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Development: </a:t>
            </a:r>
            <a:r>
              <a:rPr lang="uk-UA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нерухомості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450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Development: </a:t>
            </a:r>
            <a:r>
              <a:rPr lang="uk-UA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картка об’єкта нерухомості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32CFDC-D5B5-4B3E-8BBE-B795B0EBB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33" y="923544"/>
            <a:ext cx="7019509" cy="40649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827ADB-206F-4D3E-8692-830A5724F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033" y="923543"/>
            <a:ext cx="7019510" cy="406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79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Development: </a:t>
            </a:r>
            <a:r>
              <a:rPr lang="ru-RU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особистий</a:t>
            </a:r>
            <a:r>
              <a:rPr lang="ru-RU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кабінет</a:t>
            </a:r>
            <a:r>
              <a:rPr lang="ru-RU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покупця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57D2B0-A96D-4C62-B2A0-34A309144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56" y="1051004"/>
            <a:ext cx="7727487" cy="354471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78" y="1051003"/>
            <a:ext cx="7876965" cy="348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0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Development: </a:t>
            </a:r>
            <a:r>
              <a:rPr lang="ru-RU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</a:t>
            </a:r>
            <a:r>
              <a:rPr lang="ru-RU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-панель, </a:t>
            </a:r>
            <a:r>
              <a:rPr lang="ru-RU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загальний</a:t>
            </a:r>
            <a:r>
              <a:rPr lang="ru-RU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вигляд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EE8D77-65DD-4C22-AEFB-59F58AC4A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1" y="1133664"/>
            <a:ext cx="7652638" cy="357236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1" y="1133664"/>
            <a:ext cx="7652638" cy="358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3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Development: </a:t>
            </a:r>
            <a:r>
              <a:rPr lang="ru-RU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</a:t>
            </a:r>
            <a:r>
              <a:rPr lang="ru-RU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-панель, робота з заявками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DC5E02-A5B8-46BF-8600-4733D47B0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56" y="1085321"/>
            <a:ext cx="7913288" cy="3654500"/>
          </a:xfrm>
          <a:prstGeom prst="rect">
            <a:avLst/>
          </a:prstGeom>
        </p:spPr>
      </p:pic>
      <p:pic>
        <p:nvPicPr>
          <p:cNvPr id="6" name="Figure"/>
          <p:cNvPicPr/>
          <p:nvPr/>
        </p:nvPicPr>
        <p:blipFill>
          <a:blip r:embed="rId4"/>
          <a:stretch>
            <a:fillRect/>
          </a:stretch>
        </p:blipFill>
        <p:spPr>
          <a:xfrm>
            <a:off x="615356" y="1085321"/>
            <a:ext cx="7913288" cy="365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9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57200" cy="6675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984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33272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Проведено огляд та порівняльний аналіз 4 аналогів (DOM.RIA, ЛУН Місто, Intergal-Bud, Kyivmiskbud) — підтверджено доцільність розробки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09928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09928"/>
            <a:ext cx="457200" cy="6675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965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Спроектовано ІС: діаграма варіантів використання (3 актори), ER-модель (6 сутностей), логічна та фізична моделі БД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459736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59736"/>
            <a:ext cx="457200" cy="6675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6946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53288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повнофункціональну ІС на C# + ASP.NET Core Razor Pages + EF Core + SQL </a:t>
            </a:r>
            <a:r>
              <a:rPr lang="en-US" sz="14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LocalDB</a:t>
            </a: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Bootstrap 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09544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09544"/>
            <a:ext cx="457200" cy="6675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1927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282696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унікальні функції: подвійні статуси об'єктів, IsHidden/IsFeatured, сповіщення, BCrypt-безпека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959352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59352"/>
            <a:ext cx="457200" cy="6675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6908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032504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Проведено функціональне тестування (12/12 тест-кейсів — 100%), тестування адаптивності та безпеки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Мету кваліфікаційної роботи досягнуто. Усі поставлені задачі вирішено.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Перспективи подальшого розвитку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14984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Платіжні системи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60120"/>
            <a:ext cx="4023360" cy="43891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014984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/ SMS-сповіщення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4608" y="1490472"/>
            <a:ext cx="3803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Автоматичні повідомлення при зміні статусу заявки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960120"/>
            <a:ext cx="4023360" cy="32918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960120"/>
            <a:ext cx="4023360" cy="43891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005840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Ієрархія об'єктів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" y="1527048"/>
            <a:ext cx="3803904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Будівля → поверхи → одиниці (квартири, офіси);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Схеми планування поверхів;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Групове управління статусами та цінами</a:t>
            </a:r>
            <a:endParaRPr lang="uk-UA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69748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697480"/>
            <a:ext cx="4023360" cy="43891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752344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Аналітичний модуль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64608" y="3227832"/>
            <a:ext cx="3803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переглядів, конверсія заявок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Звіти</a:t>
            </a:r>
            <a:endParaRPr lang="uk-UA" sz="13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14984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Платіжні системи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64608" y="1014984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/ SMS-сповіщення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82479" y="1744415"/>
            <a:ext cx="3379042" cy="16592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uk-UA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uk-UA" sz="4800" b="1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C89A2E"/>
          </a:solidFill>
          <a:ln w="12700">
            <a:solidFill>
              <a:srgbClr val="C89A2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6457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1108</Words>
  <Application>Microsoft Office PowerPoint</Application>
  <PresentationFormat>On-screen Show (16:9)</PresentationFormat>
  <Paragraphs>298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Інформаційна система будівельної компанії для покупців</dc:title>
  <dc:subject>PptxGenJS Presentation</dc:subject>
  <dc:creator>Хало Ігор Сергійович</dc:creator>
  <cp:lastModifiedBy>ihor.khalo@gmail.com</cp:lastModifiedBy>
  <cp:revision>27</cp:revision>
  <dcterms:created xsi:type="dcterms:W3CDTF">2026-05-19T15:19:16Z</dcterms:created>
  <dcterms:modified xsi:type="dcterms:W3CDTF">2026-06-16T16:39:16Z</dcterms:modified>
</cp:coreProperties>
</file>